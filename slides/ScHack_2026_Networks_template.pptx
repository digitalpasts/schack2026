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819113"/>
            <a:ext cx="1485863" cy="14858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21570" y="819113"/>
            <a:ext cx="3918679" cy="1360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90000"/>
              </a:lnSpc>
              <a:buNone/>
            </a:pPr>
            <a:r>
              <a:rPr lang="en-US" sz="1800" b="1" spc="72" kern="0" dirty="0">
                <a:solidFill>
                  <a:srgbClr val="933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3 · Network Analysis </a:t>
            </a:r>
            <a:pPr algn="r" indent="0" marL="0">
              <a:lnSpc>
                <a:spcPct val="190000"/>
              </a:lnSpc>
              <a:buNone/>
            </a:pPr>
            <a:r>
              <a:rPr lang="en-US" sz="1800" spc="72" kern="0" dirty="0">
                <a:solidFill>
                  <a:srgbClr val="78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July 6–10, 2026 University of Turin, Italy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047750" y="3349873"/>
            <a:ext cx="166782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468" kern="0" dirty="0">
                <a:solidFill>
                  <a:srgbClr val="933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DANES SCHACK 2026 · SUMMER SCHOOL &amp; HACKATHON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47750" y="3937248"/>
            <a:ext cx="9844027" cy="201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0" b="1" spc="-78" kern="0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title goes here</a:t>
            </a:r>
            <a:endParaRPr lang="en-US" sz="7800" dirty="0"/>
          </a:p>
        </p:txBody>
      </p:sp>
      <p:sp>
        <p:nvSpPr>
          <p:cNvPr id="6" name="Text 3"/>
          <p:cNvSpPr/>
          <p:nvPr/>
        </p:nvSpPr>
        <p:spPr>
          <a:xfrm>
            <a:off x="1047750" y="6166011"/>
            <a:ext cx="16678275" cy="617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786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short, descriptive subtitle for this lecture or hackathon block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1047750" y="7164524"/>
            <a:ext cx="2095500" cy="38075"/>
          </a:xfrm>
          <a:prstGeom prst="rect">
            <a:avLst/>
          </a:prstGeom>
          <a:solidFill>
            <a:srgbClr val="93396A"/>
          </a:solidFill>
          <a:ln/>
        </p:spPr>
      </p:sp>
      <p:sp>
        <p:nvSpPr>
          <p:cNvPr id="8" name="Text 5"/>
          <p:cNvSpPr/>
          <p:nvPr/>
        </p:nvSpPr>
        <p:spPr>
          <a:xfrm>
            <a:off x="1047750" y="7507387"/>
            <a:ext cx="166782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 Name </a:t>
            </a:r>
            <a:pPr algn="l" indent="0" marL="0">
              <a:buNone/>
            </a:pPr>
            <a:r>
              <a:rPr lang="en-US" sz="225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buNone/>
            </a:pPr>
            <a:r>
              <a:rPr lang="en-US" sz="2250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 / Affiliation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1047750" y="8450337"/>
            <a:ext cx="1619250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047750" y="9024565"/>
            <a:ext cx="1448023" cy="20081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ORGANISED BY</a:t>
            </a:r>
            <a:endParaRPr lang="en-US" sz="1125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436" y="8744024"/>
            <a:ext cx="723863" cy="72386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8662" y="8958275"/>
            <a:ext cx="2557599" cy="3334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25" b="1" spc="47" kern="0" dirty="0">
                <a:solidFill>
                  <a:srgbClr val="D81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</a:t>
            </a:r>
            <a:pPr algn="l" indent="0" marL="0">
              <a:lnSpc>
                <a:spcPct val="100000"/>
              </a:lnSpc>
              <a:buNone/>
            </a:pPr>
            <a:r>
              <a:rPr lang="en-US" sz="2325" b="1" spc="47" kern="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versità di</a:t>
            </a:r>
            <a:pPr algn="l" indent="0" marL="0">
              <a:lnSpc>
                <a:spcPct val="100000"/>
              </a:lnSpc>
              <a:buNone/>
            </a:pPr>
            <a:r>
              <a:rPr lang="en-US" sz="2325" b="1" spc="47" kern="0" dirty="0">
                <a:solidFill>
                  <a:srgbClr val="D81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</a:t>
            </a:r>
            <a:pPr algn="l" indent="0" marL="0">
              <a:lnSpc>
                <a:spcPct val="100000"/>
              </a:lnSpc>
              <a:buNone/>
            </a:pPr>
            <a:r>
              <a:rPr lang="en-US" sz="2325" b="1" spc="47" kern="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rino</a:t>
            </a:r>
            <a:endParaRPr lang="en-US" sz="2325" dirty="0"/>
          </a:p>
        </p:txBody>
      </p:sp>
      <p:sp>
        <p:nvSpPr>
          <p:cNvPr id="13" name="Shape 9"/>
          <p:cNvSpPr/>
          <p:nvPr/>
        </p:nvSpPr>
        <p:spPr>
          <a:xfrm>
            <a:off x="6501060" y="8801137"/>
            <a:ext cx="9525" cy="60957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548" y="8810687"/>
            <a:ext cx="2658318" cy="5905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579017" y="381000"/>
            <a:ext cx="2661233" cy="330895"/>
          </a:xfrm>
          <a:prstGeom prst="roundRect">
            <a:avLst>
              <a:gd name="adj" fmla="val 50000"/>
            </a:avLst>
          </a:prstGeom>
          <a:ln w="7937">
            <a:solidFill>
              <a:srgbClr val="2A2420">
                <a:alpha val="13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739355" y="465137"/>
            <a:ext cx="2420395" cy="2007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GUIDE · READ ME FIRST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047750" y="876288"/>
            <a:ext cx="166782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468" kern="0" dirty="0">
                <a:solidFill>
                  <a:srgbClr val="933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THIS TEMPLATE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387450"/>
            <a:ext cx="7572289" cy="1226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45" kern="0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 layout masters, one consistent look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466825" y="4516871"/>
            <a:ext cx="4188794" cy="1155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any slide that follows and replace the placeholder text with your content.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466825" y="5734409"/>
            <a:ext cx="447896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titles short — they read as the table of contents of your session.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6825" y="6623596"/>
            <a:ext cx="4089920" cy="755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images and diagrams into the dashed slots.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466825" y="7441096"/>
            <a:ext cx="447896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Slides/PowerPoint, right-click the slot → replace with your figure.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753575" y="4716859"/>
            <a:ext cx="3566360" cy="755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your track accent in the Tweaks panel.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753575" y="5534360"/>
            <a:ext cx="447896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· Track 1 · Track 2 · Track 3 each re-color the whole deck.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753575" y="6423546"/>
            <a:ext cx="4253879" cy="755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Hide these grey hint labels when you present.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753575" y="7241046"/>
            <a:ext cx="447896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“Instructor hints” off in Tweaks for a clean deck.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47750" y="9543293"/>
            <a:ext cx="1619250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47750" y="9717484"/>
            <a:ext cx="1838201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DANES ScHack 2026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99376" y="9729390"/>
            <a:ext cx="2002036" cy="18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INSTRUCTOR TEMPLATE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514775" y="9703594"/>
            <a:ext cx="801675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78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44649" y="381000"/>
            <a:ext cx="2995600" cy="330895"/>
          </a:xfrm>
          <a:prstGeom prst="roundRect">
            <a:avLst>
              <a:gd name="adj" fmla="val 50000"/>
            </a:avLst>
          </a:prstGeom>
          <a:ln w="7937">
            <a:solidFill>
              <a:srgbClr val="2A2420">
                <a:alpha val="13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404987" y="465137"/>
            <a:ext cx="2764793" cy="2007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 · SECTION DIVIDER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047750" y="2934519"/>
            <a:ext cx="166782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468" kern="0" dirty="0">
                <a:solidFill>
                  <a:srgbClr val="933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ONE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3236143"/>
            <a:ext cx="16678275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2500" b="1" dirty="0">
                <a:solidFill>
                  <a:srgbClr val="933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500" dirty="0"/>
          </a:p>
        </p:txBody>
      </p:sp>
      <p:sp>
        <p:nvSpPr>
          <p:cNvPr id="6" name="Text 4"/>
          <p:cNvSpPr/>
          <p:nvPr/>
        </p:nvSpPr>
        <p:spPr>
          <a:xfrm>
            <a:off x="1047750" y="5636431"/>
            <a:ext cx="11106076" cy="989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200" b="1" spc="-72" kern="0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title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047750" y="6834993"/>
            <a:ext cx="7529622" cy="688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framing what this part of the session covers. </a:t>
            </a:r>
            <a:pPr algn="l" indent="0" marL="0">
              <a:buNone/>
            </a:pPr>
            <a:r>
              <a:rPr lang="en-US" sz="1800" i="1" dirty="0">
                <a:solidFill>
                  <a:srgbClr val="933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your own framing line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047750" y="9543293"/>
            <a:ext cx="1619250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47750" y="9717484"/>
            <a:ext cx="1838201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DANES ScHack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44607" y="9729390"/>
            <a:ext cx="2714435" cy="18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3 · NETWORK ANALYSIS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514775" y="9703594"/>
            <a:ext cx="801675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78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44649" y="381000"/>
            <a:ext cx="2995600" cy="330895"/>
          </a:xfrm>
          <a:prstGeom prst="roundRect">
            <a:avLst>
              <a:gd name="adj" fmla="val 50000"/>
            </a:avLst>
          </a:prstGeom>
          <a:ln w="7937">
            <a:solidFill>
              <a:srgbClr val="2A2420">
                <a:alpha val="13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404987" y="465137"/>
            <a:ext cx="2764793" cy="2007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 · DAILY STRUCTURE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047750" y="876288"/>
            <a:ext cx="166782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468" kern="0" dirty="0">
                <a:solidFill>
                  <a:srgbClr val="933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AT A GLANCE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387450"/>
            <a:ext cx="16678275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45" kern="0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 for the day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047750" y="2343671"/>
            <a:ext cx="7905750" cy="7200429"/>
          </a:xfrm>
          <a:prstGeom prst="roundRect">
            <a:avLst>
              <a:gd name="adj" fmla="val 794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9536162"/>
            <a:ext cx="790575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47750" y="2343671"/>
            <a:ext cx="7905750" cy="47625"/>
          </a:xfrm>
          <a:prstGeom prst="rect">
            <a:avLst/>
          </a:prstGeom>
          <a:solidFill>
            <a:srgbClr val="93396A"/>
          </a:solidFill>
          <a:ln/>
        </p:spPr>
      </p:sp>
      <p:sp>
        <p:nvSpPr>
          <p:cNvPr id="9" name="Shape 7"/>
          <p:cNvSpPr/>
          <p:nvPr/>
        </p:nvSpPr>
        <p:spPr>
          <a:xfrm>
            <a:off x="1047750" y="2343671"/>
            <a:ext cx="9525" cy="7200429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945563" y="2343671"/>
            <a:ext cx="9525" cy="7200429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474763" y="2772296"/>
            <a:ext cx="7263276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933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10:00 – 13:00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74763" y="3169171"/>
            <a:ext cx="7263276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Morning teaching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474763" y="3619996"/>
            <a:ext cx="726327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Concepts, methods &amp; guided walkthrough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08075" y="4129546"/>
            <a:ext cx="7294612" cy="1271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one for the lecture block</a:t>
            </a:r>
            <a:endParaRPr lang="en-US" sz="1875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two</a:t>
            </a:r>
            <a:endParaRPr lang="en-US" sz="1875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three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9334500" y="2343671"/>
            <a:ext cx="7905750" cy="7200429"/>
          </a:xfrm>
          <a:prstGeom prst="roundRect">
            <a:avLst>
              <a:gd name="adj" fmla="val 794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334500" y="9536162"/>
            <a:ext cx="790575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334500" y="2343671"/>
            <a:ext cx="7905750" cy="47625"/>
          </a:xfrm>
          <a:prstGeom prst="rect">
            <a:avLst/>
          </a:prstGeom>
          <a:solidFill>
            <a:srgbClr val="93396A"/>
          </a:solidFill>
          <a:ln/>
        </p:spPr>
      </p:sp>
      <p:sp>
        <p:nvSpPr>
          <p:cNvPr id="18" name="Shape 16"/>
          <p:cNvSpPr/>
          <p:nvPr/>
        </p:nvSpPr>
        <p:spPr>
          <a:xfrm>
            <a:off x="9334500" y="2343671"/>
            <a:ext cx="9525" cy="7200429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7232313" y="2343671"/>
            <a:ext cx="9525" cy="7200429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761512" y="2772296"/>
            <a:ext cx="7263276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933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15:00 – 18:00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761512" y="3169171"/>
            <a:ext cx="7263276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Afternoon hackathon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9761512" y="3619996"/>
            <a:ext cx="726327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with your own data &amp; questions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594825" y="4129546"/>
            <a:ext cx="7294612" cy="1271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or challenge for the session</a:t>
            </a:r>
            <a:endParaRPr lang="en-US" sz="1875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in small groups</a:t>
            </a:r>
            <a:endParaRPr lang="en-US" sz="1875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Share-back &amp; discussion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1047750" y="9543293"/>
            <a:ext cx="1619250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47750" y="9717484"/>
            <a:ext cx="1838201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DANES ScHack 2026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44607" y="9729390"/>
            <a:ext cx="2714435" cy="18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3 · NETWORK ANALYSIS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6514775" y="9703594"/>
            <a:ext cx="801675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78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44649" y="381000"/>
            <a:ext cx="2995600" cy="330895"/>
          </a:xfrm>
          <a:prstGeom prst="roundRect">
            <a:avLst>
              <a:gd name="adj" fmla="val 50000"/>
            </a:avLst>
          </a:prstGeom>
          <a:ln w="7937">
            <a:solidFill>
              <a:srgbClr val="2A2420">
                <a:alpha val="13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404987" y="465137"/>
            <a:ext cx="2764793" cy="2007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 · TITLE + BULLETS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047750" y="876288"/>
            <a:ext cx="166782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468" kern="0" dirty="0">
                <a:solidFill>
                  <a:srgbClr val="933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 LABEL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387450"/>
            <a:ext cx="16678275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45" kern="0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clear statement of this slide’s topic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781050" y="2343671"/>
            <a:ext cx="9242450" cy="2743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key point — keep each line to a single idea</a:t>
            </a:r>
            <a:endParaRPr lang="en-US" sz="3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key point worth the audience remembering</a:t>
            </a:r>
            <a:endParaRPr lang="en-US" sz="3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point; aim for three to five bullets per slide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047750" y="9543293"/>
            <a:ext cx="1619250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47750" y="9717484"/>
            <a:ext cx="1838201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DANES ScHack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44607" y="9729390"/>
            <a:ext cx="2714435" cy="18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3 · NETWORK ANALYSIS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6514775" y="9703594"/>
            <a:ext cx="801675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78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579017" y="381000"/>
            <a:ext cx="2661233" cy="330895"/>
          </a:xfrm>
          <a:prstGeom prst="roundRect">
            <a:avLst>
              <a:gd name="adj" fmla="val 50000"/>
            </a:avLst>
          </a:prstGeom>
          <a:ln w="7937">
            <a:solidFill>
              <a:srgbClr val="2A2420">
                <a:alpha val="13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739355" y="465137"/>
            <a:ext cx="2420395" cy="2007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 · TEXT + IMAGE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047750" y="876288"/>
            <a:ext cx="166782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468" kern="0" dirty="0">
                <a:solidFill>
                  <a:srgbClr val="933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 LABEL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387450"/>
            <a:ext cx="16678275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45" kern="0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 on the left, show on the right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847725" y="4534235"/>
            <a:ext cx="5043810" cy="2857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with the idea you want the figure to support</a:t>
            </a:r>
            <a:endParaRPr lang="en-US" sz="22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column for the explanation or steps</a:t>
            </a:r>
            <a:endParaRPr lang="en-US" sz="22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the figure as you talk through it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1060534" y="5738750"/>
            <a:ext cx="4567969" cy="410270"/>
          </a:xfrm>
          <a:prstGeom prst="roundRect">
            <a:avLst>
              <a:gd name="adj" fmla="val 50000"/>
            </a:avLst>
          </a:prstGeom>
          <a:solidFill>
            <a:srgbClr val="FAF6EC"/>
          </a:solidFill>
          <a:ln/>
        </p:spPr>
      </p:sp>
      <p:sp>
        <p:nvSpPr>
          <p:cNvPr id="8" name="Text 6"/>
          <p:cNvSpPr/>
          <p:nvPr/>
        </p:nvSpPr>
        <p:spPr>
          <a:xfrm>
            <a:off x="11231984" y="5814950"/>
            <a:ext cx="4362108" cy="2959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933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· diagram · screenshot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47750" y="9543293"/>
            <a:ext cx="1619250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47750" y="9717484"/>
            <a:ext cx="1838201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DANES ScHack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344607" y="9729390"/>
            <a:ext cx="2714435" cy="18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3 · NETWORK ANALYSIS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514775" y="9703594"/>
            <a:ext cx="801675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78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44649" y="381000"/>
            <a:ext cx="2995600" cy="330895"/>
          </a:xfrm>
          <a:prstGeom prst="roundRect">
            <a:avLst>
              <a:gd name="adj" fmla="val 50000"/>
            </a:avLst>
          </a:prstGeom>
          <a:ln w="7937">
            <a:solidFill>
              <a:srgbClr val="2A2420">
                <a:alpha val="13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404987" y="465137"/>
            <a:ext cx="2764793" cy="2007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 · CODE / TERMINAL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047750" y="876288"/>
            <a:ext cx="166782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468" kern="0" dirty="0">
                <a:solidFill>
                  <a:srgbClr val="933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387450"/>
            <a:ext cx="16678275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45" kern="0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 through the code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047750" y="5322404"/>
            <a:ext cx="5503792" cy="1281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side column to narrate what the snippet does, step by step. Replace the code with your own example.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6848388" y="2343671"/>
            <a:ext cx="10391861" cy="7200429"/>
          </a:xfrm>
          <a:prstGeom prst="roundRect">
            <a:avLst>
              <a:gd name="adj" fmla="val 1323"/>
            </a:avLst>
          </a:prstGeom>
          <a:solidFill>
            <a:srgbClr val="2A2118"/>
          </a:solidFill>
          <a:ln/>
          <a:effectLst>
            <a:outerShdw sx="100000" sy="100000" kx="0" ky="0" algn="bl" rotWithShape="0" blurRad="571500" dist="285750" dir="5400000">
              <a:srgbClr val="2A2118">
                <a:alpha val="5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48388" y="2343671"/>
            <a:ext cx="10391861" cy="525363"/>
          </a:xfrm>
          <a:prstGeom prst="rect">
            <a:avLst/>
          </a:prstGeom>
          <a:solidFill>
            <a:srgbClr val="362B1F"/>
          </a:solidFill>
          <a:ln/>
        </p:spPr>
      </p:sp>
      <p:sp>
        <p:nvSpPr>
          <p:cNvPr id="9" name="Shape 7"/>
          <p:cNvSpPr/>
          <p:nvPr/>
        </p:nvSpPr>
        <p:spPr>
          <a:xfrm>
            <a:off x="7076963" y="2539690"/>
            <a:ext cx="133325" cy="133325"/>
          </a:xfrm>
          <a:prstGeom prst="ellipse">
            <a:avLst/>
          </a:prstGeom>
          <a:solidFill>
            <a:srgbClr val="E0695B"/>
          </a:solidFill>
          <a:ln/>
        </p:spPr>
      </p:sp>
      <p:sp>
        <p:nvSpPr>
          <p:cNvPr id="10" name="Shape 8"/>
          <p:cNvSpPr/>
          <p:nvPr/>
        </p:nvSpPr>
        <p:spPr>
          <a:xfrm>
            <a:off x="7305538" y="2539690"/>
            <a:ext cx="133325" cy="133325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11" name="Shape 9"/>
          <p:cNvSpPr/>
          <p:nvPr/>
        </p:nvSpPr>
        <p:spPr>
          <a:xfrm>
            <a:off x="7534113" y="2539690"/>
            <a:ext cx="133325" cy="133325"/>
          </a:xfrm>
          <a:prstGeom prst="ellipse">
            <a:avLst/>
          </a:prstGeom>
          <a:solidFill>
            <a:srgbClr val="7DC470"/>
          </a:solidFill>
          <a:ln/>
        </p:spPr>
      </p:sp>
      <p:sp>
        <p:nvSpPr>
          <p:cNvPr id="12" name="Text 10"/>
          <p:cNvSpPr/>
          <p:nvPr/>
        </p:nvSpPr>
        <p:spPr>
          <a:xfrm>
            <a:off x="7915052" y="2515071"/>
            <a:ext cx="1047924" cy="220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FAF6EC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example.py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7191288" y="3173834"/>
            <a:ext cx="10017817" cy="36813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75" i="1" dirty="0">
                <a:solidFill>
                  <a:srgbClr val="EDE6D8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a corpus and run the pipeline 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0A8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danes 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0A8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Corpus, Pipeline</a:t>
            </a:r>
            <a:endParaRPr lang="en-US" sz="1875" dirty="0"/>
          </a:p>
          <a:p>
            <a:pPr algn="l" indent="0" marL="0">
              <a:lnSpc>
                <a:spcPct val="170000"/>
              </a:lnSpc>
              <a:buNone/>
            </a:pPr>
            <a:endParaRPr lang="en-US" sz="18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corpus =  </a:t>
            </a:r>
            <a:endParaRPr lang="en-US" sz="18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8FC9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Corpus.load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C7B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"my-dataset" 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 =  </a:t>
            </a:r>
            <a:endParaRPr lang="en-US" sz="18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8FC9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(steps=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D98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0A8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 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0A8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corpus:</a:t>
            </a:r>
            <a:endParaRPr lang="en-US" sz="18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 </a:t>
            </a:r>
            <a:endParaRPr lang="en-US" sz="18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8FC9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model.run 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(doc)</a:t>
            </a:r>
            <a:endParaRPr lang="en-US" sz="18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8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8FC9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(result.summary)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047750" y="9543293"/>
            <a:ext cx="1619250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47750" y="9717484"/>
            <a:ext cx="1838201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DANES ScHack 2026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44607" y="9729390"/>
            <a:ext cx="2714435" cy="18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3 · NETWORK ANALYSIS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514775" y="9703594"/>
            <a:ext cx="801675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78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910282" y="381000"/>
            <a:ext cx="3329967" cy="330895"/>
          </a:xfrm>
          <a:prstGeom prst="roundRect">
            <a:avLst>
              <a:gd name="adj" fmla="val 50000"/>
            </a:avLst>
          </a:prstGeom>
          <a:ln w="7937">
            <a:solidFill>
              <a:srgbClr val="2A2420">
                <a:alpha val="13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070620" y="465137"/>
            <a:ext cx="3109191" cy="2007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 · TABLE / COMPARISON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047750" y="876288"/>
            <a:ext cx="166782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468" kern="0" dirty="0">
                <a:solidFill>
                  <a:srgbClr val="933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COMPARISON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387450"/>
            <a:ext cx="16678275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45" kern="0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 approaches at a glance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047750" y="2733353"/>
            <a:ext cx="4210038" cy="15875"/>
          </a:xfrm>
          <a:prstGeom prst="rect">
            <a:avLst/>
          </a:prstGeom>
          <a:solidFill>
            <a:srgbClr val="93396A"/>
          </a:solidFill>
          <a:ln/>
        </p:spPr>
      </p:sp>
      <p:sp>
        <p:nvSpPr>
          <p:cNvPr id="7" name="Text 5"/>
          <p:cNvSpPr/>
          <p:nvPr/>
        </p:nvSpPr>
        <p:spPr>
          <a:xfrm>
            <a:off x="1314450" y="2343671"/>
            <a:ext cx="3802939" cy="256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933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257787" y="2733353"/>
            <a:ext cx="4857750" cy="15875"/>
          </a:xfrm>
          <a:prstGeom prst="rect">
            <a:avLst/>
          </a:prstGeom>
          <a:solidFill>
            <a:srgbClr val="93396A"/>
          </a:solidFill>
          <a:ln/>
        </p:spPr>
      </p:sp>
      <p:sp>
        <p:nvSpPr>
          <p:cNvPr id="9" name="Text 7"/>
          <p:cNvSpPr/>
          <p:nvPr/>
        </p:nvSpPr>
        <p:spPr>
          <a:xfrm>
            <a:off x="5524487" y="2343671"/>
            <a:ext cx="4470083" cy="256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933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FOR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115537" y="2733353"/>
            <a:ext cx="3562325" cy="15875"/>
          </a:xfrm>
          <a:prstGeom prst="rect">
            <a:avLst/>
          </a:prstGeom>
          <a:solidFill>
            <a:srgbClr val="93396A"/>
          </a:solidFill>
          <a:ln/>
        </p:spPr>
      </p:sp>
      <p:sp>
        <p:nvSpPr>
          <p:cNvPr id="11" name="Text 9"/>
          <p:cNvSpPr/>
          <p:nvPr/>
        </p:nvSpPr>
        <p:spPr>
          <a:xfrm>
            <a:off x="10382237" y="2343671"/>
            <a:ext cx="3135795" cy="256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933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EFFORT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3677863" y="2733353"/>
            <a:ext cx="3562387" cy="15875"/>
          </a:xfrm>
          <a:prstGeom prst="rect">
            <a:avLst/>
          </a:prstGeom>
          <a:solidFill>
            <a:srgbClr val="93396A"/>
          </a:solidFill>
          <a:ln/>
        </p:spPr>
      </p:sp>
      <p:sp>
        <p:nvSpPr>
          <p:cNvPr id="13" name="Text 11"/>
          <p:cNvSpPr/>
          <p:nvPr/>
        </p:nvSpPr>
        <p:spPr>
          <a:xfrm>
            <a:off x="13944563" y="2343671"/>
            <a:ext cx="3135859" cy="256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933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47750" y="3615159"/>
            <a:ext cx="4210038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314450" y="2977828"/>
            <a:ext cx="3802939" cy="446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 A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5257787" y="3615159"/>
            <a:ext cx="485775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524487" y="2977828"/>
            <a:ext cx="4470083" cy="446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suits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10115537" y="3615159"/>
            <a:ext cx="3562325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382237" y="2977828"/>
            <a:ext cx="3135795" cy="446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725" dirty="0"/>
          </a:p>
        </p:txBody>
      </p:sp>
      <p:sp>
        <p:nvSpPr>
          <p:cNvPr id="20" name="Shape 18"/>
          <p:cNvSpPr/>
          <p:nvPr/>
        </p:nvSpPr>
        <p:spPr>
          <a:xfrm>
            <a:off x="13677863" y="3615159"/>
            <a:ext cx="3562387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3944563" y="2977828"/>
            <a:ext cx="3135859" cy="446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725" dirty="0"/>
          </a:p>
        </p:txBody>
      </p:sp>
      <p:sp>
        <p:nvSpPr>
          <p:cNvPr id="22" name="Shape 20"/>
          <p:cNvSpPr/>
          <p:nvPr/>
        </p:nvSpPr>
        <p:spPr>
          <a:xfrm>
            <a:off x="1047750" y="4485059"/>
            <a:ext cx="4210038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314450" y="3851697"/>
            <a:ext cx="3802939" cy="442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 B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5257787" y="4485059"/>
            <a:ext cx="485775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524487" y="3851697"/>
            <a:ext cx="4470083" cy="442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suits</a:t>
            </a:r>
            <a:endParaRPr lang="en-US" sz="1725" dirty="0"/>
          </a:p>
        </p:txBody>
      </p:sp>
      <p:sp>
        <p:nvSpPr>
          <p:cNvPr id="26" name="Shape 24"/>
          <p:cNvSpPr/>
          <p:nvPr/>
        </p:nvSpPr>
        <p:spPr>
          <a:xfrm>
            <a:off x="10115537" y="4485059"/>
            <a:ext cx="3562325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0382237" y="3851697"/>
            <a:ext cx="3135795" cy="442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725" dirty="0"/>
          </a:p>
        </p:txBody>
      </p:sp>
      <p:sp>
        <p:nvSpPr>
          <p:cNvPr id="28" name="Shape 26"/>
          <p:cNvSpPr/>
          <p:nvPr/>
        </p:nvSpPr>
        <p:spPr>
          <a:xfrm>
            <a:off x="13677863" y="4485059"/>
            <a:ext cx="3562387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3944563" y="3851697"/>
            <a:ext cx="3135859" cy="442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725" dirty="0"/>
          </a:p>
        </p:txBody>
      </p:sp>
      <p:sp>
        <p:nvSpPr>
          <p:cNvPr id="30" name="Shape 28"/>
          <p:cNvSpPr/>
          <p:nvPr/>
        </p:nvSpPr>
        <p:spPr>
          <a:xfrm>
            <a:off x="1047750" y="5354960"/>
            <a:ext cx="4210038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314450" y="4721597"/>
            <a:ext cx="3802939" cy="442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 C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5257787" y="5354960"/>
            <a:ext cx="485775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524487" y="4721597"/>
            <a:ext cx="4470083" cy="442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suits</a:t>
            </a:r>
            <a:endParaRPr lang="en-US" sz="1725" dirty="0"/>
          </a:p>
        </p:txBody>
      </p:sp>
      <p:sp>
        <p:nvSpPr>
          <p:cNvPr id="34" name="Shape 32"/>
          <p:cNvSpPr/>
          <p:nvPr/>
        </p:nvSpPr>
        <p:spPr>
          <a:xfrm>
            <a:off x="10115537" y="5354960"/>
            <a:ext cx="3562325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0382237" y="4721597"/>
            <a:ext cx="3135795" cy="442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725" dirty="0"/>
          </a:p>
        </p:txBody>
      </p:sp>
      <p:sp>
        <p:nvSpPr>
          <p:cNvPr id="36" name="Shape 34"/>
          <p:cNvSpPr/>
          <p:nvPr/>
        </p:nvSpPr>
        <p:spPr>
          <a:xfrm>
            <a:off x="13677863" y="5354960"/>
            <a:ext cx="3562387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3944563" y="4721597"/>
            <a:ext cx="3135859" cy="442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725" dirty="0"/>
          </a:p>
        </p:txBody>
      </p:sp>
      <p:sp>
        <p:nvSpPr>
          <p:cNvPr id="38" name="Text 36"/>
          <p:cNvSpPr/>
          <p:nvPr/>
        </p:nvSpPr>
        <p:spPr>
          <a:xfrm>
            <a:off x="1047750" y="5633517"/>
            <a:ext cx="16678275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93396A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rows and columns for your own data — keep it to four columns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047750" y="9543293"/>
            <a:ext cx="1619250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047750" y="9717484"/>
            <a:ext cx="1838201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DANES ScHack 2026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344607" y="9729390"/>
            <a:ext cx="2714435" cy="18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3 · NETWORK ANALYSIS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6514775" y="9703594"/>
            <a:ext cx="801675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78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467582" y="381000"/>
            <a:ext cx="2772668" cy="330895"/>
          </a:xfrm>
          <a:prstGeom prst="roundRect">
            <a:avLst>
              <a:gd name="adj" fmla="val 50000"/>
            </a:avLst>
          </a:prstGeom>
          <a:ln w="7937">
            <a:solidFill>
              <a:srgbClr val="2A2420">
                <a:alpha val="13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627920" y="465137"/>
            <a:ext cx="2535173" cy="2007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 · TEACHER INTRO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047750" y="876288"/>
            <a:ext cx="166782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468" kern="0" dirty="0">
                <a:solidFill>
                  <a:srgbClr val="933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INSTRUCTOR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463478" y="5336791"/>
            <a:ext cx="1550045" cy="410270"/>
          </a:xfrm>
          <a:prstGeom prst="roundRect">
            <a:avLst>
              <a:gd name="adj" fmla="val 50000"/>
            </a:avLst>
          </a:prstGeom>
          <a:solidFill>
            <a:srgbClr val="FAF6EC"/>
          </a:solidFill>
          <a:ln/>
        </p:spPr>
      </p:sp>
      <p:sp>
        <p:nvSpPr>
          <p:cNvPr id="6" name="Text 4"/>
          <p:cNvSpPr/>
          <p:nvPr/>
        </p:nvSpPr>
        <p:spPr>
          <a:xfrm>
            <a:off x="2634928" y="5412991"/>
            <a:ext cx="1283345" cy="2959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933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portrait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115037" y="4126136"/>
            <a:ext cx="11458968" cy="672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48" kern="0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Instructor Name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115037" y="4893407"/>
            <a:ext cx="11458968" cy="296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933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· Track lead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115037" y="5189451"/>
            <a:ext cx="11458968" cy="363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 / Affiliation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115037" y="5800638"/>
            <a:ext cx="5892773" cy="1195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three sentences of bio: research focus, what you work on, and what participants can ask you about during the week.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1047750" y="9543293"/>
            <a:ext cx="1619250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47750" y="9717484"/>
            <a:ext cx="1838201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DANES ScHack 2026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44607" y="9729390"/>
            <a:ext cx="2714435" cy="18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3 · NETWORK ANALYSIS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6514775" y="9703594"/>
            <a:ext cx="801675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78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136316" y="381000"/>
            <a:ext cx="2103933" cy="330895"/>
          </a:xfrm>
          <a:prstGeom prst="roundRect">
            <a:avLst>
              <a:gd name="adj" fmla="val 50000"/>
            </a:avLst>
          </a:prstGeom>
          <a:ln w="7937">
            <a:solidFill>
              <a:srgbClr val="2A2420">
                <a:alpha val="13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296653" y="465137"/>
            <a:ext cx="1859459" cy="2007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 · CLOSING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047750" y="3762995"/>
            <a:ext cx="166782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468" kern="0" dirty="0">
                <a:solidFill>
                  <a:srgbClr val="933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4293195"/>
            <a:ext cx="16678275" cy="1226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0" b="1" spc="-90" kern="0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1047750" y="5939048"/>
            <a:ext cx="2510532" cy="232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933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47750" y="6228767"/>
            <a:ext cx="251053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your.email@unito.it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4091657" y="5939048"/>
            <a:ext cx="4417584" cy="232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933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091657" y="6228767"/>
            <a:ext cx="441758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digitalpasts.github.io/ScHack2026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990149" y="5939048"/>
            <a:ext cx="3239464" cy="232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933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990149" y="6228767"/>
            <a:ext cx="323946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opendanes.org </a:t>
            </a:r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DANES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047750" y="8640837"/>
            <a:ext cx="1619250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9234103"/>
            <a:ext cx="4003310" cy="20081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INITIATIVE OF THE DANES NETWORK</a:t>
            </a:r>
            <a:endParaRPr lang="en-US" sz="1125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8504" y="8963049"/>
            <a:ext cx="704825" cy="704825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805230" y="9039262"/>
            <a:ext cx="9525" cy="552400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6618" y="9077337"/>
            <a:ext cx="838522" cy="47625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377041" y="9039262"/>
            <a:ext cx="9525" cy="552400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8429" y="8953562"/>
            <a:ext cx="723863" cy="72386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624654" y="9167813"/>
            <a:ext cx="2557599" cy="3334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25" b="1" spc="47" kern="0" dirty="0">
                <a:solidFill>
                  <a:srgbClr val="D81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</a:t>
            </a:r>
            <a:pPr algn="l" indent="0" marL="0">
              <a:lnSpc>
                <a:spcPct val="100000"/>
              </a:lnSpc>
              <a:buNone/>
            </a:pPr>
            <a:r>
              <a:rPr lang="en-US" sz="2325" b="1" spc="47" kern="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versità di</a:t>
            </a:r>
            <a:pPr algn="l" indent="0" marL="0">
              <a:lnSpc>
                <a:spcPct val="100000"/>
              </a:lnSpc>
              <a:buNone/>
            </a:pPr>
            <a:r>
              <a:rPr lang="en-US" sz="2325" b="1" spc="47" kern="0" dirty="0">
                <a:solidFill>
                  <a:srgbClr val="D81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</a:t>
            </a:r>
            <a:pPr algn="l" indent="0" marL="0">
              <a:lnSpc>
                <a:spcPct val="100000"/>
              </a:lnSpc>
              <a:buNone/>
            </a:pPr>
            <a:r>
              <a:rPr lang="en-US" sz="2325" b="1" spc="47" kern="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rino</a:t>
            </a:r>
            <a:endParaRPr lang="en-US" sz="2325" dirty="0"/>
          </a:p>
        </p:txBody>
      </p:sp>
      <p:sp>
        <p:nvSpPr>
          <p:cNvPr id="20" name="Shape 15"/>
          <p:cNvSpPr/>
          <p:nvPr/>
        </p:nvSpPr>
        <p:spPr>
          <a:xfrm>
            <a:off x="14467954" y="9039262"/>
            <a:ext cx="9525" cy="552400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39342" y="9048812"/>
            <a:ext cx="2400908" cy="5333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2026-06-15T08:51:55Z</dcterms:created>
  <dcterms:modified xsi:type="dcterms:W3CDTF">2026-06-15T08:51:55Z</dcterms:modified>
</cp:coreProperties>
</file>